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0058400" cy="7772400"/>
  <p:notesSz cx="10058400" cy="7772400"/>
  <p:embeddedFontLst>
    <p:embeddedFont>
      <p:font typeface="FAIHGU+Wingdings" panose="020B0604020202020204" charset="2"/>
      <p:regular r:id="rId4"/>
    </p:embeddedFont>
    <p:embeddedFont>
      <p:font typeface="Georgia" panose="02040502050405020303" pitchFamily="18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4D"/>
    <a:srgbClr val="0050A5"/>
    <a:srgbClr val="B4BFC7"/>
    <a:srgbClr val="D3DDE5"/>
    <a:srgbClr val="0A254A"/>
    <a:srgbClr val="F5F5F5"/>
    <a:srgbClr val="006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914C9-F839-D72C-670B-5AD22331D732}" v="671" dt="2025-11-02T16:52:39.734"/>
    <p1510:client id="{BEE03B1F-881D-DC8D-9CE0-F79AAEEBCB91}" v="250" dt="2025-11-01T23:15:56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6B376B-5B06-6F02-D2D7-56541BCE0B55}"/>
              </a:ext>
            </a:extLst>
          </p:cNvPr>
          <p:cNvSpPr/>
          <p:nvPr/>
        </p:nvSpPr>
        <p:spPr>
          <a:xfrm>
            <a:off x="457280" y="230863"/>
            <a:ext cx="9144725" cy="7314234"/>
          </a:xfrm>
          <a:prstGeom prst="rect">
            <a:avLst/>
          </a:prstGeom>
          <a:noFill/>
          <a:ln>
            <a:solidFill>
              <a:srgbClr val="0A2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95001" y="441525"/>
            <a:ext cx="548350" cy="350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ESG, SSA</a:t>
            </a:r>
          </a:p>
          <a:p>
            <a:pPr marL="47244" marR="0">
              <a:lnSpc>
                <a:spcPts val="777"/>
              </a:lnSpc>
              <a:spcBef>
                <a:spcPts val="12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&amp; Maple</a:t>
            </a:r>
          </a:p>
          <a:p>
            <a:pPr marL="74676" marR="0">
              <a:lnSpc>
                <a:spcPts val="777"/>
              </a:lnSpc>
              <a:spcBef>
                <a:spcPts val="62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Supply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0682" y="496643"/>
            <a:ext cx="432924" cy="243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" marR="0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FFFFFF"/>
                </a:solidFill>
                <a:latin typeface="Arial"/>
                <a:cs typeface="Arial"/>
              </a:rPr>
              <a:t>Market</a:t>
            </a:r>
          </a:p>
          <a:p>
            <a:pPr marL="0" marR="0">
              <a:lnSpc>
                <a:spcPts val="777"/>
              </a:lnSpc>
              <a:spcBef>
                <a:spcPts val="12"/>
              </a:spcBef>
              <a:spcAft>
                <a:spcPts val="0"/>
              </a:spcAft>
            </a:pPr>
            <a:r>
              <a:rPr sz="700" b="1" dirty="0">
                <a:solidFill>
                  <a:srgbClr val="FFFFFF"/>
                </a:solidFill>
                <a:latin typeface="Arial"/>
                <a:cs typeface="Arial"/>
              </a:rPr>
              <a:t>Update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24290" y="494865"/>
            <a:ext cx="487133" cy="243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Issuance</a:t>
            </a:r>
          </a:p>
          <a:p>
            <a:pPr marL="33527" marR="0">
              <a:lnSpc>
                <a:spcPts val="777"/>
              </a:lnSpc>
              <a:spcBef>
                <a:spcPts val="12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Update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04248" y="494865"/>
            <a:ext cx="531286" cy="243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5" marR="0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Offshore</a:t>
            </a:r>
          </a:p>
          <a:p>
            <a:pPr marL="0" marR="0">
              <a:lnSpc>
                <a:spcPts val="777"/>
              </a:lnSpc>
              <a:spcBef>
                <a:spcPts val="12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Borrowing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5020" y="542821"/>
            <a:ext cx="3660421" cy="2308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3263"/>
                </a:solidFill>
                <a:latin typeface="Arial"/>
                <a:cs typeface="Arial"/>
              </a:rPr>
              <a:t>Title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5020" y="858732"/>
            <a:ext cx="1683537" cy="1667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340"/>
              </a:lnSpc>
            </a:pPr>
            <a:r>
              <a:rPr lang="en-US" sz="1200" b="1" dirty="0">
                <a:solidFill>
                  <a:srgbClr val="0060A9"/>
                </a:solidFill>
                <a:latin typeface="Arial"/>
                <a:cs typeface="Arial"/>
              </a:rPr>
              <a:t>Sub Title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02945" y="1068737"/>
            <a:ext cx="9344789" cy="3847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71450" indent="-171450">
              <a:lnSpc>
                <a:spcPts val="1005"/>
              </a:lnSpc>
              <a:buFont typeface="Wingdings"/>
              <a:buChar char="§"/>
            </a:pPr>
            <a:r>
              <a:rPr lang="en-US" sz="900" dirty="0">
                <a:latin typeface="Arial"/>
                <a:cs typeface="Arial"/>
              </a:rPr>
              <a:t>Sub text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ts val="1005"/>
              </a:lnSpc>
            </a:pPr>
            <a:endParaRPr lang="en-US" sz="900" dirty="0">
              <a:solidFill>
                <a:srgbClr val="0060A9"/>
              </a:solidFill>
              <a:latin typeface="FAIHGU+Wingdings"/>
              <a:cs typeface="Arial"/>
              <a:sym typeface="FAIHGU+Wingdings"/>
            </a:endParaRPr>
          </a:p>
          <a:p>
            <a:pPr>
              <a:lnSpc>
                <a:spcPts val="1005"/>
              </a:lnSpc>
            </a:pPr>
            <a:endParaRPr lang="en-US" sz="9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3935" y="4734582"/>
            <a:ext cx="1054578" cy="1410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115"/>
              </a:lnSpc>
            </a:pPr>
            <a:r>
              <a:rPr lang="en-US" sz="1000" b="1" dirty="0">
                <a:solidFill>
                  <a:srgbClr val="0060A9"/>
                </a:solidFill>
                <a:latin typeface="Arial"/>
                <a:cs typeface="Arial"/>
              </a:rPr>
              <a:t>Graph 3</a:t>
            </a:r>
            <a:endParaRPr lang="en-US" dirty="0"/>
          </a:p>
        </p:txBody>
      </p:sp>
      <p:sp>
        <p:nvSpPr>
          <p:cNvPr id="63" name="Arrow: Chevron 62">
            <a:extLst>
              <a:ext uri="{FF2B5EF4-FFF2-40B4-BE49-F238E27FC236}">
                <a16:creationId xmlns:a16="http://schemas.microsoft.com/office/drawing/2014/main" id="{CAA33892-3141-509F-D2B4-F26C7428A19B}"/>
              </a:ext>
            </a:extLst>
          </p:cNvPr>
          <p:cNvSpPr/>
          <p:nvPr/>
        </p:nvSpPr>
        <p:spPr>
          <a:xfrm>
            <a:off x="6581058" y="429827"/>
            <a:ext cx="827732" cy="377188"/>
          </a:xfrm>
          <a:prstGeom prst="chevron">
            <a:avLst/>
          </a:prstGeom>
          <a:solidFill>
            <a:srgbClr val="0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  <a:t>Market Update</a:t>
            </a:r>
          </a:p>
        </p:txBody>
      </p: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49477EAD-6FA5-BE0D-53DC-F6E57342EE47}"/>
              </a:ext>
            </a:extLst>
          </p:cNvPr>
          <p:cNvSpPr/>
          <p:nvPr/>
        </p:nvSpPr>
        <p:spPr>
          <a:xfrm>
            <a:off x="7270254" y="429827"/>
            <a:ext cx="827732" cy="377188"/>
          </a:xfrm>
          <a:prstGeom prst="chevron">
            <a:avLst/>
          </a:prstGeom>
          <a:solidFill>
            <a:srgbClr val="D3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Arrow: Chevron 64">
            <a:extLst>
              <a:ext uri="{FF2B5EF4-FFF2-40B4-BE49-F238E27FC236}">
                <a16:creationId xmlns:a16="http://schemas.microsoft.com/office/drawing/2014/main" id="{3CAF96A8-D7F7-FC31-C9D1-FAEBDDDCE505}"/>
              </a:ext>
            </a:extLst>
          </p:cNvPr>
          <p:cNvSpPr/>
          <p:nvPr/>
        </p:nvSpPr>
        <p:spPr>
          <a:xfrm>
            <a:off x="7959450" y="417606"/>
            <a:ext cx="827732" cy="377188"/>
          </a:xfrm>
          <a:prstGeom prst="chevron">
            <a:avLst/>
          </a:prstGeom>
          <a:solidFill>
            <a:srgbClr val="D3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97CEE82C-883E-A800-8348-561969F2C8BD}"/>
              </a:ext>
            </a:extLst>
          </p:cNvPr>
          <p:cNvSpPr/>
          <p:nvPr/>
        </p:nvSpPr>
        <p:spPr>
          <a:xfrm>
            <a:off x="8653648" y="417605"/>
            <a:ext cx="827732" cy="377188"/>
          </a:xfrm>
          <a:prstGeom prst="chevron">
            <a:avLst/>
          </a:prstGeom>
          <a:solidFill>
            <a:srgbClr val="D3D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B9043C7-D81B-4691-40DC-E8D27CDE2393}"/>
              </a:ext>
            </a:extLst>
          </p:cNvPr>
          <p:cNvCxnSpPr/>
          <p:nvPr/>
        </p:nvCxnSpPr>
        <p:spPr>
          <a:xfrm>
            <a:off x="404072" y="837548"/>
            <a:ext cx="9145744" cy="444"/>
          </a:xfrm>
          <a:prstGeom prst="straightConnector1">
            <a:avLst/>
          </a:prstGeom>
          <a:ln w="28575">
            <a:solidFill>
              <a:srgbClr val="0025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82F4A14-96EE-EC37-AA29-53E1CBD51956}"/>
              </a:ext>
            </a:extLst>
          </p:cNvPr>
          <p:cNvCxnSpPr>
            <a:cxnSpLocks/>
          </p:cNvCxnSpPr>
          <p:nvPr/>
        </p:nvCxnSpPr>
        <p:spPr>
          <a:xfrm>
            <a:off x="393935" y="4910033"/>
            <a:ext cx="4388711" cy="0"/>
          </a:xfrm>
          <a:prstGeom prst="straightConnector1">
            <a:avLst/>
          </a:prstGeom>
          <a:ln w="28575">
            <a:solidFill>
              <a:srgbClr val="B4BF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3541212-E6D8-32E3-27AF-6D8B336397CD}"/>
              </a:ext>
            </a:extLst>
          </p:cNvPr>
          <p:cNvCxnSpPr>
            <a:cxnSpLocks/>
          </p:cNvCxnSpPr>
          <p:nvPr/>
        </p:nvCxnSpPr>
        <p:spPr>
          <a:xfrm>
            <a:off x="404072" y="7339555"/>
            <a:ext cx="9145744" cy="444"/>
          </a:xfrm>
          <a:prstGeom prst="straightConnector1">
            <a:avLst/>
          </a:prstGeom>
          <a:ln w="28575">
            <a:solidFill>
              <a:srgbClr val="0025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34">
            <a:extLst>
              <a:ext uri="{FF2B5EF4-FFF2-40B4-BE49-F238E27FC236}">
                <a16:creationId xmlns:a16="http://schemas.microsoft.com/office/drawing/2014/main" id="{88EEB708-B329-A64A-105B-4ABE1670BF5D}"/>
              </a:ext>
            </a:extLst>
          </p:cNvPr>
          <p:cNvSpPr txBox="1"/>
          <p:nvPr/>
        </p:nvSpPr>
        <p:spPr>
          <a:xfrm>
            <a:off x="5160694" y="4734582"/>
            <a:ext cx="1054578" cy="1410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115"/>
              </a:lnSpc>
            </a:pPr>
            <a:r>
              <a:rPr lang="en-US" sz="1000" b="1" dirty="0">
                <a:solidFill>
                  <a:srgbClr val="0060A9"/>
                </a:solidFill>
                <a:latin typeface="Arial"/>
                <a:cs typeface="Arial"/>
              </a:rPr>
              <a:t>Graph 4</a:t>
            </a:r>
            <a:endParaRPr sz="1000" b="1" dirty="0">
              <a:solidFill>
                <a:srgbClr val="0060A9"/>
              </a:solidFill>
              <a:latin typeface="Arial"/>
              <a:cs typeface="Arial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E0F4E9-DD47-7837-F202-8E246504489C}"/>
              </a:ext>
            </a:extLst>
          </p:cNvPr>
          <p:cNvCxnSpPr>
            <a:cxnSpLocks/>
          </p:cNvCxnSpPr>
          <p:nvPr/>
        </p:nvCxnSpPr>
        <p:spPr>
          <a:xfrm>
            <a:off x="5160694" y="4910033"/>
            <a:ext cx="4388711" cy="0"/>
          </a:xfrm>
          <a:prstGeom prst="straightConnector1">
            <a:avLst/>
          </a:prstGeom>
          <a:ln w="28575">
            <a:solidFill>
              <a:srgbClr val="B4BF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bject 34">
            <a:extLst>
              <a:ext uri="{FF2B5EF4-FFF2-40B4-BE49-F238E27FC236}">
                <a16:creationId xmlns:a16="http://schemas.microsoft.com/office/drawing/2014/main" id="{22ACF205-A6A3-965F-A5D0-8A3DF2691D46}"/>
              </a:ext>
            </a:extLst>
          </p:cNvPr>
          <p:cNvSpPr txBox="1"/>
          <p:nvPr/>
        </p:nvSpPr>
        <p:spPr>
          <a:xfrm>
            <a:off x="393935" y="2678946"/>
            <a:ext cx="1054578" cy="1410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115"/>
              </a:lnSpc>
            </a:pPr>
            <a:r>
              <a:rPr lang="en-US" sz="1000" b="1" dirty="0">
                <a:solidFill>
                  <a:srgbClr val="0060A9"/>
                </a:solidFill>
                <a:latin typeface="Arial"/>
                <a:cs typeface="Arial"/>
              </a:rPr>
              <a:t>Graph 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175D4C-C6C4-2678-7D2C-4C6851B1615E}"/>
              </a:ext>
            </a:extLst>
          </p:cNvPr>
          <p:cNvCxnSpPr>
            <a:cxnSpLocks/>
          </p:cNvCxnSpPr>
          <p:nvPr/>
        </p:nvCxnSpPr>
        <p:spPr>
          <a:xfrm>
            <a:off x="393935" y="2854397"/>
            <a:ext cx="4388711" cy="0"/>
          </a:xfrm>
          <a:prstGeom prst="straightConnector1">
            <a:avLst/>
          </a:prstGeom>
          <a:ln w="28575">
            <a:solidFill>
              <a:srgbClr val="B4BF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34">
            <a:extLst>
              <a:ext uri="{FF2B5EF4-FFF2-40B4-BE49-F238E27FC236}">
                <a16:creationId xmlns:a16="http://schemas.microsoft.com/office/drawing/2014/main" id="{419771CD-A32F-E650-1E29-F45D064EA808}"/>
              </a:ext>
            </a:extLst>
          </p:cNvPr>
          <p:cNvSpPr txBox="1"/>
          <p:nvPr/>
        </p:nvSpPr>
        <p:spPr>
          <a:xfrm>
            <a:off x="5160694" y="2678946"/>
            <a:ext cx="1054578" cy="1410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115"/>
              </a:lnSpc>
            </a:pPr>
            <a:r>
              <a:rPr lang="en-US" sz="1000" b="1" dirty="0">
                <a:solidFill>
                  <a:srgbClr val="0060A9"/>
                </a:solidFill>
                <a:latin typeface="Arial"/>
                <a:cs typeface="Arial"/>
              </a:rPr>
              <a:t>Graph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D63B18-1580-2BA3-B81D-4A5D0639AF11}"/>
              </a:ext>
            </a:extLst>
          </p:cNvPr>
          <p:cNvCxnSpPr>
            <a:cxnSpLocks/>
          </p:cNvCxnSpPr>
          <p:nvPr/>
        </p:nvCxnSpPr>
        <p:spPr>
          <a:xfrm>
            <a:off x="5160694" y="2854397"/>
            <a:ext cx="4388711" cy="0"/>
          </a:xfrm>
          <a:prstGeom prst="straightConnector1">
            <a:avLst/>
          </a:prstGeom>
          <a:ln w="28575">
            <a:solidFill>
              <a:srgbClr val="B4BF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36">
            <a:extLst>
              <a:ext uri="{FF2B5EF4-FFF2-40B4-BE49-F238E27FC236}">
                <a16:creationId xmlns:a16="http://schemas.microsoft.com/office/drawing/2014/main" id="{177008DB-C842-D1E1-7941-D1AD4BA64528}"/>
              </a:ext>
            </a:extLst>
          </p:cNvPr>
          <p:cNvSpPr txBox="1"/>
          <p:nvPr/>
        </p:nvSpPr>
        <p:spPr>
          <a:xfrm>
            <a:off x="398850" y="5587057"/>
            <a:ext cx="2632848" cy="1318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just">
              <a:lnSpc>
                <a:spcPts val="1022"/>
              </a:lnSpc>
            </a:pPr>
            <a:r>
              <a:rPr lang="en-US" sz="1000" i="1" dirty="0">
                <a:solidFill>
                  <a:srgbClr val="0070C0"/>
                </a:solidFill>
                <a:latin typeface="Georgia"/>
              </a:rPr>
              <a:t>Comment 1 in Graph</a:t>
            </a:r>
            <a:endParaRPr lang="en-US" sz="1000" i="1"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doc2pdf</cp:lastModifiedBy>
  <cp:revision>193</cp:revision>
  <dcterms:modified xsi:type="dcterms:W3CDTF">2025-11-02T16:55:42Z</dcterms:modified>
</cp:coreProperties>
</file>